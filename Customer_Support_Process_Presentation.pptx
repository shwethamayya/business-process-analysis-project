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64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619ABF-C002-4A54-9EBF-14916CAE660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CC84D22-2C76-4458-9BEF-3D0C56C81F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Extended Lead Time: Average resolution takes 29.71 hours.</a:t>
          </a:r>
        </a:p>
      </dgm:t>
    </dgm:pt>
    <dgm:pt modelId="{AB90E611-8991-4FF8-942C-28051F2FCDFF}" type="parTrans" cxnId="{7F399D9E-0654-4AEB-A4A1-7F31EAE1F4FA}">
      <dgm:prSet/>
      <dgm:spPr/>
      <dgm:t>
        <a:bodyPr/>
        <a:lstStyle/>
        <a:p>
          <a:endParaRPr lang="en-US"/>
        </a:p>
      </dgm:t>
    </dgm:pt>
    <dgm:pt modelId="{5E3C5073-3AEB-47BD-88D9-68BDA6A434AE}" type="sibTrans" cxnId="{7F399D9E-0654-4AEB-A4A1-7F31EAE1F4FA}">
      <dgm:prSet/>
      <dgm:spPr/>
      <dgm:t>
        <a:bodyPr/>
        <a:lstStyle/>
        <a:p>
          <a:endParaRPr lang="en-US"/>
        </a:p>
      </dgm:t>
    </dgm:pt>
    <dgm:pt modelId="{A730194F-08C7-43F1-B052-53B4EBB280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Reactive Support: 100% manual intervention for simple queries.</a:t>
          </a:r>
        </a:p>
      </dgm:t>
    </dgm:pt>
    <dgm:pt modelId="{924B5663-BA9F-49F9-ADD9-37B54180AD6B}" type="parTrans" cxnId="{B34F93DB-E2A0-4AB2-AE91-7A5CB514D64D}">
      <dgm:prSet/>
      <dgm:spPr/>
      <dgm:t>
        <a:bodyPr/>
        <a:lstStyle/>
        <a:p>
          <a:endParaRPr lang="en-US"/>
        </a:p>
      </dgm:t>
    </dgm:pt>
    <dgm:pt modelId="{FBC590F8-B7AC-4ECF-AA1B-A39398AA4A25}" type="sibTrans" cxnId="{B34F93DB-E2A0-4AB2-AE91-7A5CB514D64D}">
      <dgm:prSet/>
      <dgm:spPr/>
      <dgm:t>
        <a:bodyPr/>
        <a:lstStyle/>
        <a:p>
          <a:endParaRPr lang="en-US"/>
        </a:p>
      </dgm:t>
    </dgm:pt>
    <dgm:pt modelId="{1D35A9A2-093E-4E90-AF05-D6C92D05F2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Customer Churn Risk: High FRT leading to low satisfaction.</a:t>
          </a:r>
        </a:p>
      </dgm:t>
    </dgm:pt>
    <dgm:pt modelId="{7F07C1BE-A292-47D2-A7BF-1E054AA4647E}" type="parTrans" cxnId="{4EC7C8EB-DD46-4473-8BA4-83F416ACF01F}">
      <dgm:prSet/>
      <dgm:spPr/>
      <dgm:t>
        <a:bodyPr/>
        <a:lstStyle/>
        <a:p>
          <a:endParaRPr lang="en-US"/>
        </a:p>
      </dgm:t>
    </dgm:pt>
    <dgm:pt modelId="{58498B19-946F-4D3C-9963-C5429E439C05}" type="sibTrans" cxnId="{4EC7C8EB-DD46-4473-8BA4-83F416ACF01F}">
      <dgm:prSet/>
      <dgm:spPr/>
      <dgm:t>
        <a:bodyPr/>
        <a:lstStyle/>
        <a:p>
          <a:endParaRPr lang="en-US"/>
        </a:p>
      </dgm:t>
    </dgm:pt>
    <dgm:pt modelId="{10E641B4-F119-47EC-ADD4-7ED0264EE9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High Operational Cost: Excessive manual labor for ticket routing.</a:t>
          </a:r>
        </a:p>
      </dgm:t>
    </dgm:pt>
    <dgm:pt modelId="{8C23E153-BAFE-4C68-AE0A-61FF4290EE68}" type="parTrans" cxnId="{C49229CC-2455-47A1-91CF-67B810626C1F}">
      <dgm:prSet/>
      <dgm:spPr/>
      <dgm:t>
        <a:bodyPr/>
        <a:lstStyle/>
        <a:p>
          <a:endParaRPr lang="en-US"/>
        </a:p>
      </dgm:t>
    </dgm:pt>
    <dgm:pt modelId="{774C0BD0-FA78-41B8-ADE2-31D4F9F58F72}" type="sibTrans" cxnId="{C49229CC-2455-47A1-91CF-67B810626C1F}">
      <dgm:prSet/>
      <dgm:spPr/>
      <dgm:t>
        <a:bodyPr/>
        <a:lstStyle/>
        <a:p>
          <a:endParaRPr lang="en-US"/>
        </a:p>
      </dgm:t>
    </dgm:pt>
    <dgm:pt modelId="{43C4CAF2-F3F1-4CAE-A3A5-F528F7FD33F2}" type="pres">
      <dgm:prSet presAssocID="{88619ABF-C002-4A54-9EBF-14916CAE6609}" presName="root" presStyleCnt="0">
        <dgm:presLayoutVars>
          <dgm:dir/>
          <dgm:resizeHandles val="exact"/>
        </dgm:presLayoutVars>
      </dgm:prSet>
      <dgm:spPr/>
    </dgm:pt>
    <dgm:pt modelId="{DFE55BB4-46AE-4944-A407-353971412C50}" type="pres">
      <dgm:prSet presAssocID="{2CC84D22-2C76-4458-9BEF-3D0C56C81F00}" presName="compNode" presStyleCnt="0"/>
      <dgm:spPr/>
    </dgm:pt>
    <dgm:pt modelId="{CE549B37-BCAE-4526-9867-14B2835C16F0}" type="pres">
      <dgm:prSet presAssocID="{2CC84D22-2C76-4458-9BEF-3D0C56C81F0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urglass"/>
        </a:ext>
      </dgm:extLst>
    </dgm:pt>
    <dgm:pt modelId="{BF217E4C-4A3B-4FC8-92BE-3F253976CA3D}" type="pres">
      <dgm:prSet presAssocID="{2CC84D22-2C76-4458-9BEF-3D0C56C81F00}" presName="spaceRect" presStyleCnt="0"/>
      <dgm:spPr/>
    </dgm:pt>
    <dgm:pt modelId="{9C0E706C-BDF8-4A84-B1D0-E08167CD7676}" type="pres">
      <dgm:prSet presAssocID="{2CC84D22-2C76-4458-9BEF-3D0C56C81F00}" presName="textRect" presStyleLbl="revTx" presStyleIdx="0" presStyleCnt="4">
        <dgm:presLayoutVars>
          <dgm:chMax val="1"/>
          <dgm:chPref val="1"/>
        </dgm:presLayoutVars>
      </dgm:prSet>
      <dgm:spPr/>
    </dgm:pt>
    <dgm:pt modelId="{57F6F30A-53E3-4EC9-BAAC-3B2DF840B241}" type="pres">
      <dgm:prSet presAssocID="{5E3C5073-3AEB-47BD-88D9-68BDA6A434AE}" presName="sibTrans" presStyleCnt="0"/>
      <dgm:spPr/>
    </dgm:pt>
    <dgm:pt modelId="{E3E35CA9-8C03-415A-A0DF-330A94C83383}" type="pres">
      <dgm:prSet presAssocID="{A730194F-08C7-43F1-B052-53B4EBB28027}" presName="compNode" presStyleCnt="0"/>
      <dgm:spPr/>
    </dgm:pt>
    <dgm:pt modelId="{05F1D78B-B6A5-4720-B0DD-B7EB5FE755F8}" type="pres">
      <dgm:prSet presAssocID="{A730194F-08C7-43F1-B052-53B4EBB28027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2E1D133E-E02D-4087-8550-5D7D4DD4D344}" type="pres">
      <dgm:prSet presAssocID="{A730194F-08C7-43F1-B052-53B4EBB28027}" presName="spaceRect" presStyleCnt="0"/>
      <dgm:spPr/>
    </dgm:pt>
    <dgm:pt modelId="{718A3867-DBAE-41FF-8B1E-87E8E46EC2AC}" type="pres">
      <dgm:prSet presAssocID="{A730194F-08C7-43F1-B052-53B4EBB28027}" presName="textRect" presStyleLbl="revTx" presStyleIdx="1" presStyleCnt="4">
        <dgm:presLayoutVars>
          <dgm:chMax val="1"/>
          <dgm:chPref val="1"/>
        </dgm:presLayoutVars>
      </dgm:prSet>
      <dgm:spPr/>
    </dgm:pt>
    <dgm:pt modelId="{B2C4B27A-E3D4-443A-9AC9-109AD6F56613}" type="pres">
      <dgm:prSet presAssocID="{FBC590F8-B7AC-4ECF-AA1B-A39398AA4A25}" presName="sibTrans" presStyleCnt="0"/>
      <dgm:spPr/>
    </dgm:pt>
    <dgm:pt modelId="{36232A04-0C60-4FCB-842E-99BBCE1120CE}" type="pres">
      <dgm:prSet presAssocID="{1D35A9A2-093E-4E90-AF05-D6C92D05F27C}" presName="compNode" presStyleCnt="0"/>
      <dgm:spPr/>
    </dgm:pt>
    <dgm:pt modelId="{4D4740CA-B974-45A1-AE0F-E9089B22C320}" type="pres">
      <dgm:prSet presAssocID="{1D35A9A2-093E-4E90-AF05-D6C92D05F27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ad Face with No Fill"/>
        </a:ext>
      </dgm:extLst>
    </dgm:pt>
    <dgm:pt modelId="{BDA48AE8-69BE-430E-9003-4256ED5D3516}" type="pres">
      <dgm:prSet presAssocID="{1D35A9A2-093E-4E90-AF05-D6C92D05F27C}" presName="spaceRect" presStyleCnt="0"/>
      <dgm:spPr/>
    </dgm:pt>
    <dgm:pt modelId="{80383979-5804-4389-803D-E9079CA9881D}" type="pres">
      <dgm:prSet presAssocID="{1D35A9A2-093E-4E90-AF05-D6C92D05F27C}" presName="textRect" presStyleLbl="revTx" presStyleIdx="2" presStyleCnt="4">
        <dgm:presLayoutVars>
          <dgm:chMax val="1"/>
          <dgm:chPref val="1"/>
        </dgm:presLayoutVars>
      </dgm:prSet>
      <dgm:spPr/>
    </dgm:pt>
    <dgm:pt modelId="{24FDF954-0397-47B2-A5A5-0E7BD9FF880E}" type="pres">
      <dgm:prSet presAssocID="{58498B19-946F-4D3C-9963-C5429E439C05}" presName="sibTrans" presStyleCnt="0"/>
      <dgm:spPr/>
    </dgm:pt>
    <dgm:pt modelId="{8FEB32D1-2604-4DAA-8F74-30FA2A5B3383}" type="pres">
      <dgm:prSet presAssocID="{10E641B4-F119-47EC-ADD4-7ED0264EE91D}" presName="compNode" presStyleCnt="0"/>
      <dgm:spPr/>
    </dgm:pt>
    <dgm:pt modelId="{A1AB81FE-CBD8-4948-AB5A-01717CCD3CD5}" type="pres">
      <dgm:prSet presAssocID="{10E641B4-F119-47EC-ADD4-7ED0264EE91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97FB4077-C0B2-4A28-B9BA-E1BA87C4BE94}" type="pres">
      <dgm:prSet presAssocID="{10E641B4-F119-47EC-ADD4-7ED0264EE91D}" presName="spaceRect" presStyleCnt="0"/>
      <dgm:spPr/>
    </dgm:pt>
    <dgm:pt modelId="{4DFE6BA0-9EDF-4D5E-8F63-1CA7941CDBA6}" type="pres">
      <dgm:prSet presAssocID="{10E641B4-F119-47EC-ADD4-7ED0264EE91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E9EF240E-8E32-489F-90CA-264EA5BCD209}" type="presOf" srcId="{10E641B4-F119-47EC-ADD4-7ED0264EE91D}" destId="{4DFE6BA0-9EDF-4D5E-8F63-1CA7941CDBA6}" srcOrd="0" destOrd="0" presId="urn:microsoft.com/office/officeart/2018/2/layout/IconLabelList"/>
    <dgm:cxn modelId="{8CA9CD6C-605B-4FE5-9CB3-D832D204C84E}" type="presOf" srcId="{1D35A9A2-093E-4E90-AF05-D6C92D05F27C}" destId="{80383979-5804-4389-803D-E9079CA9881D}" srcOrd="0" destOrd="0" presId="urn:microsoft.com/office/officeart/2018/2/layout/IconLabelList"/>
    <dgm:cxn modelId="{1EC46459-E929-4479-882D-997BFA59061E}" type="presOf" srcId="{A730194F-08C7-43F1-B052-53B4EBB28027}" destId="{718A3867-DBAE-41FF-8B1E-87E8E46EC2AC}" srcOrd="0" destOrd="0" presId="urn:microsoft.com/office/officeart/2018/2/layout/IconLabelList"/>
    <dgm:cxn modelId="{AD6CF28E-FAC5-4757-B344-8987509A2379}" type="presOf" srcId="{88619ABF-C002-4A54-9EBF-14916CAE6609}" destId="{43C4CAF2-F3F1-4CAE-A3A5-F528F7FD33F2}" srcOrd="0" destOrd="0" presId="urn:microsoft.com/office/officeart/2018/2/layout/IconLabelList"/>
    <dgm:cxn modelId="{7F399D9E-0654-4AEB-A4A1-7F31EAE1F4FA}" srcId="{88619ABF-C002-4A54-9EBF-14916CAE6609}" destId="{2CC84D22-2C76-4458-9BEF-3D0C56C81F00}" srcOrd="0" destOrd="0" parTransId="{AB90E611-8991-4FF8-942C-28051F2FCDFF}" sibTransId="{5E3C5073-3AEB-47BD-88D9-68BDA6A434AE}"/>
    <dgm:cxn modelId="{82D5809F-2EFF-4FBC-A426-F916051CDDFC}" type="presOf" srcId="{2CC84D22-2C76-4458-9BEF-3D0C56C81F00}" destId="{9C0E706C-BDF8-4A84-B1D0-E08167CD7676}" srcOrd="0" destOrd="0" presId="urn:microsoft.com/office/officeart/2018/2/layout/IconLabelList"/>
    <dgm:cxn modelId="{C49229CC-2455-47A1-91CF-67B810626C1F}" srcId="{88619ABF-C002-4A54-9EBF-14916CAE6609}" destId="{10E641B4-F119-47EC-ADD4-7ED0264EE91D}" srcOrd="3" destOrd="0" parTransId="{8C23E153-BAFE-4C68-AE0A-61FF4290EE68}" sibTransId="{774C0BD0-FA78-41B8-ADE2-31D4F9F58F72}"/>
    <dgm:cxn modelId="{B34F93DB-E2A0-4AB2-AE91-7A5CB514D64D}" srcId="{88619ABF-C002-4A54-9EBF-14916CAE6609}" destId="{A730194F-08C7-43F1-B052-53B4EBB28027}" srcOrd="1" destOrd="0" parTransId="{924B5663-BA9F-49F9-ADD9-37B54180AD6B}" sibTransId="{FBC590F8-B7AC-4ECF-AA1B-A39398AA4A25}"/>
    <dgm:cxn modelId="{4EC7C8EB-DD46-4473-8BA4-83F416ACF01F}" srcId="{88619ABF-C002-4A54-9EBF-14916CAE6609}" destId="{1D35A9A2-093E-4E90-AF05-D6C92D05F27C}" srcOrd="2" destOrd="0" parTransId="{7F07C1BE-A292-47D2-A7BF-1E054AA4647E}" sibTransId="{58498B19-946F-4D3C-9963-C5429E439C05}"/>
    <dgm:cxn modelId="{919596AC-23FB-418A-9532-193F5302CC82}" type="presParOf" srcId="{43C4CAF2-F3F1-4CAE-A3A5-F528F7FD33F2}" destId="{DFE55BB4-46AE-4944-A407-353971412C50}" srcOrd="0" destOrd="0" presId="urn:microsoft.com/office/officeart/2018/2/layout/IconLabelList"/>
    <dgm:cxn modelId="{028B8C9D-7ED8-4FC5-86E4-B20FFD2ABB76}" type="presParOf" srcId="{DFE55BB4-46AE-4944-A407-353971412C50}" destId="{CE549B37-BCAE-4526-9867-14B2835C16F0}" srcOrd="0" destOrd="0" presId="urn:microsoft.com/office/officeart/2018/2/layout/IconLabelList"/>
    <dgm:cxn modelId="{EC6F0A79-0495-4024-A519-2523DFB58D56}" type="presParOf" srcId="{DFE55BB4-46AE-4944-A407-353971412C50}" destId="{BF217E4C-4A3B-4FC8-92BE-3F253976CA3D}" srcOrd="1" destOrd="0" presId="urn:microsoft.com/office/officeart/2018/2/layout/IconLabelList"/>
    <dgm:cxn modelId="{D65C5B80-3B94-4E2C-A7FC-8DF65D711AE2}" type="presParOf" srcId="{DFE55BB4-46AE-4944-A407-353971412C50}" destId="{9C0E706C-BDF8-4A84-B1D0-E08167CD7676}" srcOrd="2" destOrd="0" presId="urn:microsoft.com/office/officeart/2018/2/layout/IconLabelList"/>
    <dgm:cxn modelId="{1ED0CE2A-A3CF-4E26-BF34-6AE2CA07172B}" type="presParOf" srcId="{43C4CAF2-F3F1-4CAE-A3A5-F528F7FD33F2}" destId="{57F6F30A-53E3-4EC9-BAAC-3B2DF840B241}" srcOrd="1" destOrd="0" presId="urn:microsoft.com/office/officeart/2018/2/layout/IconLabelList"/>
    <dgm:cxn modelId="{F69C4DE9-AC60-4BC2-9DE5-DE2FBD90B43F}" type="presParOf" srcId="{43C4CAF2-F3F1-4CAE-A3A5-F528F7FD33F2}" destId="{E3E35CA9-8C03-415A-A0DF-330A94C83383}" srcOrd="2" destOrd="0" presId="urn:microsoft.com/office/officeart/2018/2/layout/IconLabelList"/>
    <dgm:cxn modelId="{CFC70EA5-FC8C-4AC6-8C27-0C63C0C3ABDB}" type="presParOf" srcId="{E3E35CA9-8C03-415A-A0DF-330A94C83383}" destId="{05F1D78B-B6A5-4720-B0DD-B7EB5FE755F8}" srcOrd="0" destOrd="0" presId="urn:microsoft.com/office/officeart/2018/2/layout/IconLabelList"/>
    <dgm:cxn modelId="{D216BF08-EDBB-4BC6-B951-E883FEEB5D56}" type="presParOf" srcId="{E3E35CA9-8C03-415A-A0DF-330A94C83383}" destId="{2E1D133E-E02D-4087-8550-5D7D4DD4D344}" srcOrd="1" destOrd="0" presId="urn:microsoft.com/office/officeart/2018/2/layout/IconLabelList"/>
    <dgm:cxn modelId="{65D1E06E-D930-4DD7-8094-CD36437DA60B}" type="presParOf" srcId="{E3E35CA9-8C03-415A-A0DF-330A94C83383}" destId="{718A3867-DBAE-41FF-8B1E-87E8E46EC2AC}" srcOrd="2" destOrd="0" presId="urn:microsoft.com/office/officeart/2018/2/layout/IconLabelList"/>
    <dgm:cxn modelId="{CA037F3B-E448-434C-A87E-E08A122BF1B8}" type="presParOf" srcId="{43C4CAF2-F3F1-4CAE-A3A5-F528F7FD33F2}" destId="{B2C4B27A-E3D4-443A-9AC9-109AD6F56613}" srcOrd="3" destOrd="0" presId="urn:microsoft.com/office/officeart/2018/2/layout/IconLabelList"/>
    <dgm:cxn modelId="{4C381195-9326-4AF9-99B7-C582EF145C9C}" type="presParOf" srcId="{43C4CAF2-F3F1-4CAE-A3A5-F528F7FD33F2}" destId="{36232A04-0C60-4FCB-842E-99BBCE1120CE}" srcOrd="4" destOrd="0" presId="urn:microsoft.com/office/officeart/2018/2/layout/IconLabelList"/>
    <dgm:cxn modelId="{F47DEAAF-77A6-40FB-B084-41E0BA7D119D}" type="presParOf" srcId="{36232A04-0C60-4FCB-842E-99BBCE1120CE}" destId="{4D4740CA-B974-45A1-AE0F-E9089B22C320}" srcOrd="0" destOrd="0" presId="urn:microsoft.com/office/officeart/2018/2/layout/IconLabelList"/>
    <dgm:cxn modelId="{52069C6E-7318-4C19-A025-58A1CD581F85}" type="presParOf" srcId="{36232A04-0C60-4FCB-842E-99BBCE1120CE}" destId="{BDA48AE8-69BE-430E-9003-4256ED5D3516}" srcOrd="1" destOrd="0" presId="urn:microsoft.com/office/officeart/2018/2/layout/IconLabelList"/>
    <dgm:cxn modelId="{4027DDC5-4943-44FA-9551-88B77A928F92}" type="presParOf" srcId="{36232A04-0C60-4FCB-842E-99BBCE1120CE}" destId="{80383979-5804-4389-803D-E9079CA9881D}" srcOrd="2" destOrd="0" presId="urn:microsoft.com/office/officeart/2018/2/layout/IconLabelList"/>
    <dgm:cxn modelId="{36081FE8-5495-409D-8B32-2D9DD9E9B405}" type="presParOf" srcId="{43C4CAF2-F3F1-4CAE-A3A5-F528F7FD33F2}" destId="{24FDF954-0397-47B2-A5A5-0E7BD9FF880E}" srcOrd="5" destOrd="0" presId="urn:microsoft.com/office/officeart/2018/2/layout/IconLabelList"/>
    <dgm:cxn modelId="{F8B09CA6-3BEB-44AD-A8AE-C5EB85043C55}" type="presParOf" srcId="{43C4CAF2-F3F1-4CAE-A3A5-F528F7FD33F2}" destId="{8FEB32D1-2604-4DAA-8F74-30FA2A5B3383}" srcOrd="6" destOrd="0" presId="urn:microsoft.com/office/officeart/2018/2/layout/IconLabelList"/>
    <dgm:cxn modelId="{D93C5A3B-F4D0-46EE-8FDC-7EFAD78FFDEF}" type="presParOf" srcId="{8FEB32D1-2604-4DAA-8F74-30FA2A5B3383}" destId="{A1AB81FE-CBD8-4948-AB5A-01717CCD3CD5}" srcOrd="0" destOrd="0" presId="urn:microsoft.com/office/officeart/2018/2/layout/IconLabelList"/>
    <dgm:cxn modelId="{7606A781-46A9-4F6B-81E6-BF378EE47F5F}" type="presParOf" srcId="{8FEB32D1-2604-4DAA-8F74-30FA2A5B3383}" destId="{97FB4077-C0B2-4A28-B9BA-E1BA87C4BE94}" srcOrd="1" destOrd="0" presId="urn:microsoft.com/office/officeart/2018/2/layout/IconLabelList"/>
    <dgm:cxn modelId="{1EC12681-FC27-4252-9A16-1A70D464A5C1}" type="presParOf" srcId="{8FEB32D1-2604-4DAA-8F74-30FA2A5B3383}" destId="{4DFE6BA0-9EDF-4D5E-8F63-1CA7941CDBA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56A832C-ABE4-4645-B31C-0718A01C9F6F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0581EE7-B012-49AC-A773-021DC3D2CACA}">
      <dgm:prSet/>
      <dgm:spPr/>
      <dgm:t>
        <a:bodyPr/>
        <a:lstStyle/>
        <a:p>
          <a:r>
            <a:rPr lang="en-US"/>
            <a:t>Resolution Time: Reduced from 29.71 to 11.13 hrs (62.5% reduction).</a:t>
          </a:r>
        </a:p>
      </dgm:t>
    </dgm:pt>
    <dgm:pt modelId="{6CEDE2E3-221D-48DE-B59F-CE88D3AF1C2F}" type="parTrans" cxnId="{49263A4B-43B9-434A-8B10-42BAB4EFF65B}">
      <dgm:prSet/>
      <dgm:spPr/>
      <dgm:t>
        <a:bodyPr/>
        <a:lstStyle/>
        <a:p>
          <a:endParaRPr lang="en-US"/>
        </a:p>
      </dgm:t>
    </dgm:pt>
    <dgm:pt modelId="{99F38840-9852-4A7E-AF41-548A7827BF70}" type="sibTrans" cxnId="{49263A4B-43B9-434A-8B10-42BAB4EFF65B}">
      <dgm:prSet/>
      <dgm:spPr/>
      <dgm:t>
        <a:bodyPr/>
        <a:lstStyle/>
        <a:p>
          <a:endParaRPr lang="en-US"/>
        </a:p>
      </dgm:t>
    </dgm:pt>
    <dgm:pt modelId="{74A33BFC-35F1-4F2C-8EEB-F8C30741CFD0}">
      <dgm:prSet/>
      <dgm:spPr/>
      <dgm:t>
        <a:bodyPr/>
        <a:lstStyle/>
        <a:p>
          <a:r>
            <a:rPr lang="en-US"/>
            <a:t>First Response: Dropped from 4.90 to 0.81 hrs.</a:t>
          </a:r>
        </a:p>
      </dgm:t>
    </dgm:pt>
    <dgm:pt modelId="{4B4B0E4D-E5AC-4DE7-A0D6-EFF9B7C29CF7}" type="parTrans" cxnId="{9A70AA23-7C60-4285-B861-1D788865EBBB}">
      <dgm:prSet/>
      <dgm:spPr/>
      <dgm:t>
        <a:bodyPr/>
        <a:lstStyle/>
        <a:p>
          <a:endParaRPr lang="en-US"/>
        </a:p>
      </dgm:t>
    </dgm:pt>
    <dgm:pt modelId="{6DC927C3-A34C-4822-BEB2-C1C0547B439B}" type="sibTrans" cxnId="{9A70AA23-7C60-4285-B861-1D788865EBBB}">
      <dgm:prSet/>
      <dgm:spPr/>
      <dgm:t>
        <a:bodyPr/>
        <a:lstStyle/>
        <a:p>
          <a:endParaRPr lang="en-US"/>
        </a:p>
      </dgm:t>
    </dgm:pt>
    <dgm:pt modelId="{912074C4-1786-40AF-8964-F973A7453D0B}">
      <dgm:prSet/>
      <dgm:spPr/>
      <dgm:t>
        <a:bodyPr/>
        <a:lstStyle/>
        <a:p>
          <a:r>
            <a:rPr lang="en-US"/>
            <a:t>SLA Compliance: Improved by 62.7 percentage points.</a:t>
          </a:r>
        </a:p>
      </dgm:t>
    </dgm:pt>
    <dgm:pt modelId="{70B124F8-4F93-4604-8072-170C255C662C}" type="parTrans" cxnId="{2C0CD179-B517-455F-BB5C-C528AD03A3CF}">
      <dgm:prSet/>
      <dgm:spPr/>
      <dgm:t>
        <a:bodyPr/>
        <a:lstStyle/>
        <a:p>
          <a:endParaRPr lang="en-US"/>
        </a:p>
      </dgm:t>
    </dgm:pt>
    <dgm:pt modelId="{BB548431-5728-4EC1-9CEB-A2C262554E37}" type="sibTrans" cxnId="{2C0CD179-B517-455F-BB5C-C528AD03A3CF}">
      <dgm:prSet/>
      <dgm:spPr/>
      <dgm:t>
        <a:bodyPr/>
        <a:lstStyle/>
        <a:p>
          <a:endParaRPr lang="en-US"/>
        </a:p>
      </dgm:t>
    </dgm:pt>
    <dgm:pt modelId="{A83478C3-059C-48BA-A7BF-0548C835A489}">
      <dgm:prSet/>
      <dgm:spPr/>
      <dgm:t>
        <a:bodyPr/>
        <a:lstStyle/>
        <a:p>
          <a:r>
            <a:rPr lang="en-US"/>
            <a:t>Scalability: Process can handle 3x volume without increasing headcount.</a:t>
          </a:r>
        </a:p>
      </dgm:t>
    </dgm:pt>
    <dgm:pt modelId="{6B22E7BB-9D83-468B-98F6-E37644BBBB98}" type="parTrans" cxnId="{E87D90DE-C508-403A-A69D-560A7BCA4062}">
      <dgm:prSet/>
      <dgm:spPr/>
      <dgm:t>
        <a:bodyPr/>
        <a:lstStyle/>
        <a:p>
          <a:endParaRPr lang="en-US"/>
        </a:p>
      </dgm:t>
    </dgm:pt>
    <dgm:pt modelId="{7CD6A45F-833D-4D23-B037-6B0A88E59A13}" type="sibTrans" cxnId="{E87D90DE-C508-403A-A69D-560A7BCA4062}">
      <dgm:prSet/>
      <dgm:spPr/>
      <dgm:t>
        <a:bodyPr/>
        <a:lstStyle/>
        <a:p>
          <a:endParaRPr lang="en-US"/>
        </a:p>
      </dgm:t>
    </dgm:pt>
    <dgm:pt modelId="{6CA9AA7D-E571-43C2-B9E4-61033D983EB5}" type="pres">
      <dgm:prSet presAssocID="{A56A832C-ABE4-4645-B31C-0718A01C9F6F}" presName="diagram" presStyleCnt="0">
        <dgm:presLayoutVars>
          <dgm:dir/>
          <dgm:resizeHandles val="exact"/>
        </dgm:presLayoutVars>
      </dgm:prSet>
      <dgm:spPr/>
    </dgm:pt>
    <dgm:pt modelId="{743951F8-9D98-4BC7-BC08-E3476E67D14C}" type="pres">
      <dgm:prSet presAssocID="{90581EE7-B012-49AC-A773-021DC3D2CACA}" presName="node" presStyleLbl="node1" presStyleIdx="0" presStyleCnt="4">
        <dgm:presLayoutVars>
          <dgm:bulletEnabled val="1"/>
        </dgm:presLayoutVars>
      </dgm:prSet>
      <dgm:spPr/>
    </dgm:pt>
    <dgm:pt modelId="{AA42012B-EF0D-4498-A8B8-3F6FD2FD11BD}" type="pres">
      <dgm:prSet presAssocID="{99F38840-9852-4A7E-AF41-548A7827BF70}" presName="sibTrans" presStyleCnt="0"/>
      <dgm:spPr/>
    </dgm:pt>
    <dgm:pt modelId="{0B33BA58-A2CF-45F5-B8B6-1643CCF9773A}" type="pres">
      <dgm:prSet presAssocID="{74A33BFC-35F1-4F2C-8EEB-F8C30741CFD0}" presName="node" presStyleLbl="node1" presStyleIdx="1" presStyleCnt="4">
        <dgm:presLayoutVars>
          <dgm:bulletEnabled val="1"/>
        </dgm:presLayoutVars>
      </dgm:prSet>
      <dgm:spPr/>
    </dgm:pt>
    <dgm:pt modelId="{5E12E7D5-CE4B-43A0-B5A4-D4FB42C6ED94}" type="pres">
      <dgm:prSet presAssocID="{6DC927C3-A34C-4822-BEB2-C1C0547B439B}" presName="sibTrans" presStyleCnt="0"/>
      <dgm:spPr/>
    </dgm:pt>
    <dgm:pt modelId="{DFB9272C-0279-4F7F-967D-76AF33DD60DB}" type="pres">
      <dgm:prSet presAssocID="{912074C4-1786-40AF-8964-F973A7453D0B}" presName="node" presStyleLbl="node1" presStyleIdx="2" presStyleCnt="4">
        <dgm:presLayoutVars>
          <dgm:bulletEnabled val="1"/>
        </dgm:presLayoutVars>
      </dgm:prSet>
      <dgm:spPr/>
    </dgm:pt>
    <dgm:pt modelId="{624FF4E2-BA74-4667-B855-C39ACF8FF56C}" type="pres">
      <dgm:prSet presAssocID="{BB548431-5728-4EC1-9CEB-A2C262554E37}" presName="sibTrans" presStyleCnt="0"/>
      <dgm:spPr/>
    </dgm:pt>
    <dgm:pt modelId="{E6924041-5E2A-4E2A-8BFF-45A52CAEA682}" type="pres">
      <dgm:prSet presAssocID="{A83478C3-059C-48BA-A7BF-0548C835A489}" presName="node" presStyleLbl="node1" presStyleIdx="3" presStyleCnt="4">
        <dgm:presLayoutVars>
          <dgm:bulletEnabled val="1"/>
        </dgm:presLayoutVars>
      </dgm:prSet>
      <dgm:spPr/>
    </dgm:pt>
  </dgm:ptLst>
  <dgm:cxnLst>
    <dgm:cxn modelId="{9A70AA23-7C60-4285-B861-1D788865EBBB}" srcId="{A56A832C-ABE4-4645-B31C-0718A01C9F6F}" destId="{74A33BFC-35F1-4F2C-8EEB-F8C30741CFD0}" srcOrd="1" destOrd="0" parTransId="{4B4B0E4D-E5AC-4DE7-A0D6-EFF9B7C29CF7}" sibTransId="{6DC927C3-A34C-4822-BEB2-C1C0547B439B}"/>
    <dgm:cxn modelId="{49263A4B-43B9-434A-8B10-42BAB4EFF65B}" srcId="{A56A832C-ABE4-4645-B31C-0718A01C9F6F}" destId="{90581EE7-B012-49AC-A773-021DC3D2CACA}" srcOrd="0" destOrd="0" parTransId="{6CEDE2E3-221D-48DE-B59F-CE88D3AF1C2F}" sibTransId="{99F38840-9852-4A7E-AF41-548A7827BF70}"/>
    <dgm:cxn modelId="{532B0373-598B-423E-83DD-C665E94D2775}" type="presOf" srcId="{912074C4-1786-40AF-8964-F973A7453D0B}" destId="{DFB9272C-0279-4F7F-967D-76AF33DD60DB}" srcOrd="0" destOrd="0" presId="urn:microsoft.com/office/officeart/2005/8/layout/default"/>
    <dgm:cxn modelId="{2C0CD179-B517-455F-BB5C-C528AD03A3CF}" srcId="{A56A832C-ABE4-4645-B31C-0718A01C9F6F}" destId="{912074C4-1786-40AF-8964-F973A7453D0B}" srcOrd="2" destOrd="0" parTransId="{70B124F8-4F93-4604-8072-170C255C662C}" sibTransId="{BB548431-5728-4EC1-9CEB-A2C262554E37}"/>
    <dgm:cxn modelId="{65FC827F-24F8-4359-804C-E5075BC2B345}" type="presOf" srcId="{A83478C3-059C-48BA-A7BF-0548C835A489}" destId="{E6924041-5E2A-4E2A-8BFF-45A52CAEA682}" srcOrd="0" destOrd="0" presId="urn:microsoft.com/office/officeart/2005/8/layout/default"/>
    <dgm:cxn modelId="{A1D847B6-9D3A-4375-BE6D-AFB7DAA6A5B5}" type="presOf" srcId="{74A33BFC-35F1-4F2C-8EEB-F8C30741CFD0}" destId="{0B33BA58-A2CF-45F5-B8B6-1643CCF9773A}" srcOrd="0" destOrd="0" presId="urn:microsoft.com/office/officeart/2005/8/layout/default"/>
    <dgm:cxn modelId="{80143DBF-143E-49A9-9911-C8541CE239AB}" type="presOf" srcId="{90581EE7-B012-49AC-A773-021DC3D2CACA}" destId="{743951F8-9D98-4BC7-BC08-E3476E67D14C}" srcOrd="0" destOrd="0" presId="urn:microsoft.com/office/officeart/2005/8/layout/default"/>
    <dgm:cxn modelId="{4D9F5BCF-ED93-4A10-87CF-3B5AACCDD9C4}" type="presOf" srcId="{A56A832C-ABE4-4645-B31C-0718A01C9F6F}" destId="{6CA9AA7D-E571-43C2-B9E4-61033D983EB5}" srcOrd="0" destOrd="0" presId="urn:microsoft.com/office/officeart/2005/8/layout/default"/>
    <dgm:cxn modelId="{E87D90DE-C508-403A-A69D-560A7BCA4062}" srcId="{A56A832C-ABE4-4645-B31C-0718A01C9F6F}" destId="{A83478C3-059C-48BA-A7BF-0548C835A489}" srcOrd="3" destOrd="0" parTransId="{6B22E7BB-9D83-468B-98F6-E37644BBBB98}" sibTransId="{7CD6A45F-833D-4D23-B037-6B0A88E59A13}"/>
    <dgm:cxn modelId="{E60C7CFF-0D57-42E2-96D5-215131CE03E1}" type="presParOf" srcId="{6CA9AA7D-E571-43C2-B9E4-61033D983EB5}" destId="{743951F8-9D98-4BC7-BC08-E3476E67D14C}" srcOrd="0" destOrd="0" presId="urn:microsoft.com/office/officeart/2005/8/layout/default"/>
    <dgm:cxn modelId="{ECBDB39F-211C-4973-BAB6-3DE2231E0BC1}" type="presParOf" srcId="{6CA9AA7D-E571-43C2-B9E4-61033D983EB5}" destId="{AA42012B-EF0D-4498-A8B8-3F6FD2FD11BD}" srcOrd="1" destOrd="0" presId="urn:microsoft.com/office/officeart/2005/8/layout/default"/>
    <dgm:cxn modelId="{53D3243B-BA48-46A8-992A-EBFA29B81634}" type="presParOf" srcId="{6CA9AA7D-E571-43C2-B9E4-61033D983EB5}" destId="{0B33BA58-A2CF-45F5-B8B6-1643CCF9773A}" srcOrd="2" destOrd="0" presId="urn:microsoft.com/office/officeart/2005/8/layout/default"/>
    <dgm:cxn modelId="{73B6E588-B484-4E4A-8EF8-A06F2A2630BD}" type="presParOf" srcId="{6CA9AA7D-E571-43C2-B9E4-61033D983EB5}" destId="{5E12E7D5-CE4B-43A0-B5A4-D4FB42C6ED94}" srcOrd="3" destOrd="0" presId="urn:microsoft.com/office/officeart/2005/8/layout/default"/>
    <dgm:cxn modelId="{C27A40AF-48C0-4283-B17E-83EC2FC0531D}" type="presParOf" srcId="{6CA9AA7D-E571-43C2-B9E4-61033D983EB5}" destId="{DFB9272C-0279-4F7F-967D-76AF33DD60DB}" srcOrd="4" destOrd="0" presId="urn:microsoft.com/office/officeart/2005/8/layout/default"/>
    <dgm:cxn modelId="{83205792-6BB7-4925-92CE-D23E9C2B146A}" type="presParOf" srcId="{6CA9AA7D-E571-43C2-B9E4-61033D983EB5}" destId="{624FF4E2-BA74-4667-B855-C39ACF8FF56C}" srcOrd="5" destOrd="0" presId="urn:microsoft.com/office/officeart/2005/8/layout/default"/>
    <dgm:cxn modelId="{B0E38527-A7AC-43C1-9C2A-8AC46D40B3C3}" type="presParOf" srcId="{6CA9AA7D-E571-43C2-B9E4-61033D983EB5}" destId="{E6924041-5E2A-4E2A-8BFF-45A52CAEA682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143F5BE-952E-4240-AAE3-4716B5F4B30F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3786E24F-0CF4-48BE-B01A-13DACC3BD00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Cost Efficiency: 40% reduction in cost per ticket.</a:t>
          </a:r>
        </a:p>
      </dgm:t>
    </dgm:pt>
    <dgm:pt modelId="{8301EE6B-0A3A-4C7E-9F5C-97EF49E3A3C4}" type="parTrans" cxnId="{3B41E89B-0F44-47D3-B9F6-C895CB749FB0}">
      <dgm:prSet/>
      <dgm:spPr/>
      <dgm:t>
        <a:bodyPr/>
        <a:lstStyle/>
        <a:p>
          <a:endParaRPr lang="en-US"/>
        </a:p>
      </dgm:t>
    </dgm:pt>
    <dgm:pt modelId="{A7CDB878-DF62-413B-919E-1135A584538E}" type="sibTrans" cxnId="{3B41E89B-0F44-47D3-B9F6-C895CB749FB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B95C6CE-1F73-40D6-9659-A5A7B1D2F82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Enhanced CX: Faster responses leading to improved NPS/CSAT.</a:t>
          </a:r>
        </a:p>
      </dgm:t>
    </dgm:pt>
    <dgm:pt modelId="{91CE84C4-25F6-424F-B0F0-8FF465AA261D}" type="parTrans" cxnId="{E1516CF9-ECB4-4899-88A4-A3037AB814C5}">
      <dgm:prSet/>
      <dgm:spPr/>
      <dgm:t>
        <a:bodyPr/>
        <a:lstStyle/>
        <a:p>
          <a:endParaRPr lang="en-US"/>
        </a:p>
      </dgm:t>
    </dgm:pt>
    <dgm:pt modelId="{E036BAE6-562A-4FC5-919B-95D0E6920FC6}" type="sibTrans" cxnId="{E1516CF9-ECB4-4899-88A4-A3037AB814C5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F664EBB-446E-48E7-86B7-4D1CCFC27A0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Operational Excellence: Predictable and transparent workflows.</a:t>
          </a:r>
        </a:p>
      </dgm:t>
    </dgm:pt>
    <dgm:pt modelId="{CA29CFF3-4F6B-4B92-B666-82B15E574D02}" type="parTrans" cxnId="{31AF0284-A41B-4B94-8E25-7D725AD95890}">
      <dgm:prSet/>
      <dgm:spPr/>
      <dgm:t>
        <a:bodyPr/>
        <a:lstStyle/>
        <a:p>
          <a:endParaRPr lang="en-US"/>
        </a:p>
      </dgm:t>
    </dgm:pt>
    <dgm:pt modelId="{BF750655-7D05-4338-B4C6-B0B95F39F8BC}" type="sibTrans" cxnId="{31AF0284-A41B-4B94-8E25-7D725AD9589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5377672-6A61-4D14-BA98-D456E3CA8D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Employee Satisfaction: Reduced manual burnout for support agents.</a:t>
          </a:r>
        </a:p>
      </dgm:t>
    </dgm:pt>
    <dgm:pt modelId="{E32E9D34-0B7D-4CA8-8026-5E18BA9F5AB8}" type="parTrans" cxnId="{9BA7416A-BDFF-47D9-96F9-890A7DCAC044}">
      <dgm:prSet/>
      <dgm:spPr/>
      <dgm:t>
        <a:bodyPr/>
        <a:lstStyle/>
        <a:p>
          <a:endParaRPr lang="en-US"/>
        </a:p>
      </dgm:t>
    </dgm:pt>
    <dgm:pt modelId="{EE5E412E-38E7-4AA4-AEDF-AE2994D90C35}" type="sibTrans" cxnId="{9BA7416A-BDFF-47D9-96F9-890A7DCAC044}">
      <dgm:prSet/>
      <dgm:spPr/>
      <dgm:t>
        <a:bodyPr/>
        <a:lstStyle/>
        <a:p>
          <a:endParaRPr lang="en-US"/>
        </a:p>
      </dgm:t>
    </dgm:pt>
    <dgm:pt modelId="{8217874B-5D8C-45D2-A7EB-E9E7969A8BAD}" type="pres">
      <dgm:prSet presAssocID="{4143F5BE-952E-4240-AAE3-4716B5F4B30F}" presName="outerComposite" presStyleCnt="0">
        <dgm:presLayoutVars>
          <dgm:chMax val="5"/>
          <dgm:dir/>
          <dgm:resizeHandles val="exact"/>
        </dgm:presLayoutVars>
      </dgm:prSet>
      <dgm:spPr/>
    </dgm:pt>
    <dgm:pt modelId="{A38511F7-DD05-4B1F-92B2-6543E616E25D}" type="pres">
      <dgm:prSet presAssocID="{4143F5BE-952E-4240-AAE3-4716B5F4B30F}" presName="dummyMaxCanvas" presStyleCnt="0">
        <dgm:presLayoutVars/>
      </dgm:prSet>
      <dgm:spPr/>
    </dgm:pt>
    <dgm:pt modelId="{25F47E49-A6E1-4C58-A4C2-B1F9FF5E069A}" type="pres">
      <dgm:prSet presAssocID="{4143F5BE-952E-4240-AAE3-4716B5F4B30F}" presName="FourNodes_1" presStyleLbl="node1" presStyleIdx="0" presStyleCnt="4">
        <dgm:presLayoutVars>
          <dgm:bulletEnabled val="1"/>
        </dgm:presLayoutVars>
      </dgm:prSet>
      <dgm:spPr/>
    </dgm:pt>
    <dgm:pt modelId="{49FFF8D1-B4CB-43CB-A00C-EA06C4DC9645}" type="pres">
      <dgm:prSet presAssocID="{4143F5BE-952E-4240-AAE3-4716B5F4B30F}" presName="FourNodes_2" presStyleLbl="node1" presStyleIdx="1" presStyleCnt="4">
        <dgm:presLayoutVars>
          <dgm:bulletEnabled val="1"/>
        </dgm:presLayoutVars>
      </dgm:prSet>
      <dgm:spPr/>
    </dgm:pt>
    <dgm:pt modelId="{27488CBE-34DF-4AA1-877F-E239C91C19CD}" type="pres">
      <dgm:prSet presAssocID="{4143F5BE-952E-4240-AAE3-4716B5F4B30F}" presName="FourNodes_3" presStyleLbl="node1" presStyleIdx="2" presStyleCnt="4">
        <dgm:presLayoutVars>
          <dgm:bulletEnabled val="1"/>
        </dgm:presLayoutVars>
      </dgm:prSet>
      <dgm:spPr/>
    </dgm:pt>
    <dgm:pt modelId="{C0156017-ADBD-45B5-BC2A-92370ED72259}" type="pres">
      <dgm:prSet presAssocID="{4143F5BE-952E-4240-AAE3-4716B5F4B30F}" presName="FourNodes_4" presStyleLbl="node1" presStyleIdx="3" presStyleCnt="4">
        <dgm:presLayoutVars>
          <dgm:bulletEnabled val="1"/>
        </dgm:presLayoutVars>
      </dgm:prSet>
      <dgm:spPr/>
    </dgm:pt>
    <dgm:pt modelId="{1957BD0A-F4C1-4802-9D2E-4242B0FF0737}" type="pres">
      <dgm:prSet presAssocID="{4143F5BE-952E-4240-AAE3-4716B5F4B30F}" presName="FourConn_1-2" presStyleLbl="fgAccFollowNode1" presStyleIdx="0" presStyleCnt="3">
        <dgm:presLayoutVars>
          <dgm:bulletEnabled val="1"/>
        </dgm:presLayoutVars>
      </dgm:prSet>
      <dgm:spPr/>
    </dgm:pt>
    <dgm:pt modelId="{E67A8B98-E627-41CA-A628-03A00C8B63F2}" type="pres">
      <dgm:prSet presAssocID="{4143F5BE-952E-4240-AAE3-4716B5F4B30F}" presName="FourConn_2-3" presStyleLbl="fgAccFollowNode1" presStyleIdx="1" presStyleCnt="3">
        <dgm:presLayoutVars>
          <dgm:bulletEnabled val="1"/>
        </dgm:presLayoutVars>
      </dgm:prSet>
      <dgm:spPr/>
    </dgm:pt>
    <dgm:pt modelId="{6CDE2A1A-7583-475D-ADE7-E7DBC709C02F}" type="pres">
      <dgm:prSet presAssocID="{4143F5BE-952E-4240-AAE3-4716B5F4B30F}" presName="FourConn_3-4" presStyleLbl="fgAccFollowNode1" presStyleIdx="2" presStyleCnt="3">
        <dgm:presLayoutVars>
          <dgm:bulletEnabled val="1"/>
        </dgm:presLayoutVars>
      </dgm:prSet>
      <dgm:spPr/>
    </dgm:pt>
    <dgm:pt modelId="{A09883DD-5875-4AF2-8F74-BC58338A16CD}" type="pres">
      <dgm:prSet presAssocID="{4143F5BE-952E-4240-AAE3-4716B5F4B30F}" presName="FourNodes_1_text" presStyleLbl="node1" presStyleIdx="3" presStyleCnt="4">
        <dgm:presLayoutVars>
          <dgm:bulletEnabled val="1"/>
        </dgm:presLayoutVars>
      </dgm:prSet>
      <dgm:spPr/>
    </dgm:pt>
    <dgm:pt modelId="{F91E939D-522B-4A5B-99A1-383512033BAF}" type="pres">
      <dgm:prSet presAssocID="{4143F5BE-952E-4240-AAE3-4716B5F4B30F}" presName="FourNodes_2_text" presStyleLbl="node1" presStyleIdx="3" presStyleCnt="4">
        <dgm:presLayoutVars>
          <dgm:bulletEnabled val="1"/>
        </dgm:presLayoutVars>
      </dgm:prSet>
      <dgm:spPr/>
    </dgm:pt>
    <dgm:pt modelId="{06E9E846-E3DF-45F3-BB6A-9546612AB2D5}" type="pres">
      <dgm:prSet presAssocID="{4143F5BE-952E-4240-AAE3-4716B5F4B30F}" presName="FourNodes_3_text" presStyleLbl="node1" presStyleIdx="3" presStyleCnt="4">
        <dgm:presLayoutVars>
          <dgm:bulletEnabled val="1"/>
        </dgm:presLayoutVars>
      </dgm:prSet>
      <dgm:spPr/>
    </dgm:pt>
    <dgm:pt modelId="{A0A10E49-AE29-431B-B994-359D7CCEF440}" type="pres">
      <dgm:prSet presAssocID="{4143F5BE-952E-4240-AAE3-4716B5F4B30F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A623B005-5D92-452B-BD2D-1B92731E4B72}" type="presOf" srcId="{E036BAE6-562A-4FC5-919B-95D0E6920FC6}" destId="{E67A8B98-E627-41CA-A628-03A00C8B63F2}" srcOrd="0" destOrd="0" presId="urn:microsoft.com/office/officeart/2005/8/layout/vProcess5"/>
    <dgm:cxn modelId="{D2895214-C1A1-4D41-8E8B-A6555F317300}" type="presOf" srcId="{3786E24F-0CF4-48BE-B01A-13DACC3BD00C}" destId="{A09883DD-5875-4AF2-8F74-BC58338A16CD}" srcOrd="1" destOrd="0" presId="urn:microsoft.com/office/officeart/2005/8/layout/vProcess5"/>
    <dgm:cxn modelId="{3FC94B22-B0C1-4968-9CEA-14598DDD40F4}" type="presOf" srcId="{3786E24F-0CF4-48BE-B01A-13DACC3BD00C}" destId="{25F47E49-A6E1-4C58-A4C2-B1F9FF5E069A}" srcOrd="0" destOrd="0" presId="urn:microsoft.com/office/officeart/2005/8/layout/vProcess5"/>
    <dgm:cxn modelId="{48134024-D407-4AC5-8933-29D33DEC6C46}" type="presOf" srcId="{BF750655-7D05-4338-B4C6-B0B95F39F8BC}" destId="{6CDE2A1A-7583-475D-ADE7-E7DBC709C02F}" srcOrd="0" destOrd="0" presId="urn:microsoft.com/office/officeart/2005/8/layout/vProcess5"/>
    <dgm:cxn modelId="{59EBC443-BF20-4DEA-B959-2823AF67C4F9}" type="presOf" srcId="{4143F5BE-952E-4240-AAE3-4716B5F4B30F}" destId="{8217874B-5D8C-45D2-A7EB-E9E7969A8BAD}" srcOrd="0" destOrd="0" presId="urn:microsoft.com/office/officeart/2005/8/layout/vProcess5"/>
    <dgm:cxn modelId="{8C992247-19F9-45DC-A705-EFA137164CBE}" type="presOf" srcId="{A7CDB878-DF62-413B-919E-1135A584538E}" destId="{1957BD0A-F4C1-4802-9D2E-4242B0FF0737}" srcOrd="0" destOrd="0" presId="urn:microsoft.com/office/officeart/2005/8/layout/vProcess5"/>
    <dgm:cxn modelId="{9BA7416A-BDFF-47D9-96F9-890A7DCAC044}" srcId="{4143F5BE-952E-4240-AAE3-4716B5F4B30F}" destId="{75377672-6A61-4D14-BA98-D456E3CA8DE7}" srcOrd="3" destOrd="0" parTransId="{E32E9D34-0B7D-4CA8-8026-5E18BA9F5AB8}" sibTransId="{EE5E412E-38E7-4AA4-AEDF-AE2994D90C35}"/>
    <dgm:cxn modelId="{31F99073-A494-4BB9-9172-62CB8372AE0F}" type="presOf" srcId="{2F664EBB-446E-48E7-86B7-4D1CCFC27A0F}" destId="{27488CBE-34DF-4AA1-877F-E239C91C19CD}" srcOrd="0" destOrd="0" presId="urn:microsoft.com/office/officeart/2005/8/layout/vProcess5"/>
    <dgm:cxn modelId="{2E868E83-01B9-4934-B172-9DBA374E6E5B}" type="presOf" srcId="{75377672-6A61-4D14-BA98-D456E3CA8DE7}" destId="{A0A10E49-AE29-431B-B994-359D7CCEF440}" srcOrd="1" destOrd="0" presId="urn:microsoft.com/office/officeart/2005/8/layout/vProcess5"/>
    <dgm:cxn modelId="{31AF0284-A41B-4B94-8E25-7D725AD95890}" srcId="{4143F5BE-952E-4240-AAE3-4716B5F4B30F}" destId="{2F664EBB-446E-48E7-86B7-4D1CCFC27A0F}" srcOrd="2" destOrd="0" parTransId="{CA29CFF3-4F6B-4B92-B666-82B15E574D02}" sibTransId="{BF750655-7D05-4338-B4C6-B0B95F39F8BC}"/>
    <dgm:cxn modelId="{3B41E89B-0F44-47D3-B9F6-C895CB749FB0}" srcId="{4143F5BE-952E-4240-AAE3-4716B5F4B30F}" destId="{3786E24F-0CF4-48BE-B01A-13DACC3BD00C}" srcOrd="0" destOrd="0" parTransId="{8301EE6B-0A3A-4C7E-9F5C-97EF49E3A3C4}" sibTransId="{A7CDB878-DF62-413B-919E-1135A584538E}"/>
    <dgm:cxn modelId="{A576A3AD-7354-4E2A-AD4D-159B2A704269}" type="presOf" srcId="{75377672-6A61-4D14-BA98-D456E3CA8DE7}" destId="{C0156017-ADBD-45B5-BC2A-92370ED72259}" srcOrd="0" destOrd="0" presId="urn:microsoft.com/office/officeart/2005/8/layout/vProcess5"/>
    <dgm:cxn modelId="{C21F5CAE-D2A1-40F8-A3F0-F2F5F073E012}" type="presOf" srcId="{9B95C6CE-1F73-40D6-9659-A5A7B1D2F821}" destId="{F91E939D-522B-4A5B-99A1-383512033BAF}" srcOrd="1" destOrd="0" presId="urn:microsoft.com/office/officeart/2005/8/layout/vProcess5"/>
    <dgm:cxn modelId="{9AC169C0-EC5C-47AB-BD1A-7A2F5BEA4402}" type="presOf" srcId="{9B95C6CE-1F73-40D6-9659-A5A7B1D2F821}" destId="{49FFF8D1-B4CB-43CB-A00C-EA06C4DC9645}" srcOrd="0" destOrd="0" presId="urn:microsoft.com/office/officeart/2005/8/layout/vProcess5"/>
    <dgm:cxn modelId="{A6149BC8-6DAF-49E8-8EC3-9FDCC8FBF4C7}" type="presOf" srcId="{2F664EBB-446E-48E7-86B7-4D1CCFC27A0F}" destId="{06E9E846-E3DF-45F3-BB6A-9546612AB2D5}" srcOrd="1" destOrd="0" presId="urn:microsoft.com/office/officeart/2005/8/layout/vProcess5"/>
    <dgm:cxn modelId="{E1516CF9-ECB4-4899-88A4-A3037AB814C5}" srcId="{4143F5BE-952E-4240-AAE3-4716B5F4B30F}" destId="{9B95C6CE-1F73-40D6-9659-A5A7B1D2F821}" srcOrd="1" destOrd="0" parTransId="{91CE84C4-25F6-424F-B0F0-8FF465AA261D}" sibTransId="{E036BAE6-562A-4FC5-919B-95D0E6920FC6}"/>
    <dgm:cxn modelId="{F16174C7-E6EA-4E2C-9D45-EBEBC6EB3F28}" type="presParOf" srcId="{8217874B-5D8C-45D2-A7EB-E9E7969A8BAD}" destId="{A38511F7-DD05-4B1F-92B2-6543E616E25D}" srcOrd="0" destOrd="0" presId="urn:microsoft.com/office/officeart/2005/8/layout/vProcess5"/>
    <dgm:cxn modelId="{E5DE6713-1976-4828-A5B5-9DF2BDCCCAE8}" type="presParOf" srcId="{8217874B-5D8C-45D2-A7EB-E9E7969A8BAD}" destId="{25F47E49-A6E1-4C58-A4C2-B1F9FF5E069A}" srcOrd="1" destOrd="0" presId="urn:microsoft.com/office/officeart/2005/8/layout/vProcess5"/>
    <dgm:cxn modelId="{24C868D9-4F9C-4EB2-8D53-57BB25486886}" type="presParOf" srcId="{8217874B-5D8C-45D2-A7EB-E9E7969A8BAD}" destId="{49FFF8D1-B4CB-43CB-A00C-EA06C4DC9645}" srcOrd="2" destOrd="0" presId="urn:microsoft.com/office/officeart/2005/8/layout/vProcess5"/>
    <dgm:cxn modelId="{C3F57FFB-667D-4F6A-8718-0A4769890816}" type="presParOf" srcId="{8217874B-5D8C-45D2-A7EB-E9E7969A8BAD}" destId="{27488CBE-34DF-4AA1-877F-E239C91C19CD}" srcOrd="3" destOrd="0" presId="urn:microsoft.com/office/officeart/2005/8/layout/vProcess5"/>
    <dgm:cxn modelId="{4E8FC405-DD95-419D-9FB8-5E0CC8C4CC65}" type="presParOf" srcId="{8217874B-5D8C-45D2-A7EB-E9E7969A8BAD}" destId="{C0156017-ADBD-45B5-BC2A-92370ED72259}" srcOrd="4" destOrd="0" presId="urn:microsoft.com/office/officeart/2005/8/layout/vProcess5"/>
    <dgm:cxn modelId="{70D16CE0-BE47-47AB-9BA0-26819982BCD9}" type="presParOf" srcId="{8217874B-5D8C-45D2-A7EB-E9E7969A8BAD}" destId="{1957BD0A-F4C1-4802-9D2E-4242B0FF0737}" srcOrd="5" destOrd="0" presId="urn:microsoft.com/office/officeart/2005/8/layout/vProcess5"/>
    <dgm:cxn modelId="{0C67FCC7-6AD8-4D16-BA89-4BCB98F93803}" type="presParOf" srcId="{8217874B-5D8C-45D2-A7EB-E9E7969A8BAD}" destId="{E67A8B98-E627-41CA-A628-03A00C8B63F2}" srcOrd="6" destOrd="0" presId="urn:microsoft.com/office/officeart/2005/8/layout/vProcess5"/>
    <dgm:cxn modelId="{56B262C9-8287-4E13-A48A-A093477EAC09}" type="presParOf" srcId="{8217874B-5D8C-45D2-A7EB-E9E7969A8BAD}" destId="{6CDE2A1A-7583-475D-ADE7-E7DBC709C02F}" srcOrd="7" destOrd="0" presId="urn:microsoft.com/office/officeart/2005/8/layout/vProcess5"/>
    <dgm:cxn modelId="{A4F1073E-E771-4706-A163-C245431232BD}" type="presParOf" srcId="{8217874B-5D8C-45D2-A7EB-E9E7969A8BAD}" destId="{A09883DD-5875-4AF2-8F74-BC58338A16CD}" srcOrd="8" destOrd="0" presId="urn:microsoft.com/office/officeart/2005/8/layout/vProcess5"/>
    <dgm:cxn modelId="{21A9412B-D057-4663-9DAB-3B41227A196A}" type="presParOf" srcId="{8217874B-5D8C-45D2-A7EB-E9E7969A8BAD}" destId="{F91E939D-522B-4A5B-99A1-383512033BAF}" srcOrd="9" destOrd="0" presId="urn:microsoft.com/office/officeart/2005/8/layout/vProcess5"/>
    <dgm:cxn modelId="{392E4358-9112-49F4-A263-2044C02E6AA7}" type="presParOf" srcId="{8217874B-5D8C-45D2-A7EB-E9E7969A8BAD}" destId="{06E9E846-E3DF-45F3-BB6A-9546612AB2D5}" srcOrd="10" destOrd="0" presId="urn:microsoft.com/office/officeart/2005/8/layout/vProcess5"/>
    <dgm:cxn modelId="{5593F8FD-DD25-4BB9-8941-76DE8701AFE8}" type="presParOf" srcId="{8217874B-5D8C-45D2-A7EB-E9E7969A8BAD}" destId="{A0A10E49-AE29-431B-B994-359D7CCEF44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549B37-BCAE-4526-9867-14B2835C16F0}">
      <dsp:nvSpPr>
        <dsp:cNvPr id="0" name=""/>
        <dsp:cNvSpPr/>
      </dsp:nvSpPr>
      <dsp:spPr>
        <a:xfrm>
          <a:off x="431256" y="1244619"/>
          <a:ext cx="700839" cy="7008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0E706C-BDF8-4A84-B1D0-E08167CD7676}">
      <dsp:nvSpPr>
        <dsp:cNvPr id="0" name=""/>
        <dsp:cNvSpPr/>
      </dsp:nvSpPr>
      <dsp:spPr>
        <a:xfrm>
          <a:off x="2965" y="2188845"/>
          <a:ext cx="1557421" cy="622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Extended Lead Time: Average resolution takes 29.71 hours.</a:t>
          </a:r>
        </a:p>
      </dsp:txBody>
      <dsp:txXfrm>
        <a:off x="2965" y="2188845"/>
        <a:ext cx="1557421" cy="622968"/>
      </dsp:txXfrm>
    </dsp:sp>
    <dsp:sp modelId="{05F1D78B-B6A5-4720-B0DD-B7EB5FE755F8}">
      <dsp:nvSpPr>
        <dsp:cNvPr id="0" name=""/>
        <dsp:cNvSpPr/>
      </dsp:nvSpPr>
      <dsp:spPr>
        <a:xfrm>
          <a:off x="2261226" y="1244619"/>
          <a:ext cx="700839" cy="7008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8A3867-DBAE-41FF-8B1E-87E8E46EC2AC}">
      <dsp:nvSpPr>
        <dsp:cNvPr id="0" name=""/>
        <dsp:cNvSpPr/>
      </dsp:nvSpPr>
      <dsp:spPr>
        <a:xfrm>
          <a:off x="1832935" y="2188845"/>
          <a:ext cx="1557421" cy="622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Reactive Support: 100% manual intervention for simple queries.</a:t>
          </a:r>
        </a:p>
      </dsp:txBody>
      <dsp:txXfrm>
        <a:off x="1832935" y="2188845"/>
        <a:ext cx="1557421" cy="622968"/>
      </dsp:txXfrm>
    </dsp:sp>
    <dsp:sp modelId="{4D4740CA-B974-45A1-AE0F-E9089B22C320}">
      <dsp:nvSpPr>
        <dsp:cNvPr id="0" name=""/>
        <dsp:cNvSpPr/>
      </dsp:nvSpPr>
      <dsp:spPr>
        <a:xfrm>
          <a:off x="4091197" y="1244619"/>
          <a:ext cx="700839" cy="7008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83979-5804-4389-803D-E9079CA9881D}">
      <dsp:nvSpPr>
        <dsp:cNvPr id="0" name=""/>
        <dsp:cNvSpPr/>
      </dsp:nvSpPr>
      <dsp:spPr>
        <a:xfrm>
          <a:off x="3662906" y="2188845"/>
          <a:ext cx="1557421" cy="622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Customer Churn Risk: High FRT leading to low satisfaction.</a:t>
          </a:r>
        </a:p>
      </dsp:txBody>
      <dsp:txXfrm>
        <a:off x="3662906" y="2188845"/>
        <a:ext cx="1557421" cy="622968"/>
      </dsp:txXfrm>
    </dsp:sp>
    <dsp:sp modelId="{A1AB81FE-CBD8-4948-AB5A-01717CCD3CD5}">
      <dsp:nvSpPr>
        <dsp:cNvPr id="0" name=""/>
        <dsp:cNvSpPr/>
      </dsp:nvSpPr>
      <dsp:spPr>
        <a:xfrm>
          <a:off x="5921168" y="1244619"/>
          <a:ext cx="700839" cy="70083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FE6BA0-9EDF-4D5E-8F63-1CA7941CDBA6}">
      <dsp:nvSpPr>
        <dsp:cNvPr id="0" name=""/>
        <dsp:cNvSpPr/>
      </dsp:nvSpPr>
      <dsp:spPr>
        <a:xfrm>
          <a:off x="5492877" y="2188845"/>
          <a:ext cx="1557421" cy="6229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High Operational Cost: Excessive manual labor for ticket routing.</a:t>
          </a:r>
        </a:p>
      </dsp:txBody>
      <dsp:txXfrm>
        <a:off x="5492877" y="2188845"/>
        <a:ext cx="1557421" cy="6229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3951F8-9D98-4BC7-BC08-E3476E67D14C}">
      <dsp:nvSpPr>
        <dsp:cNvPr id="0" name=""/>
        <dsp:cNvSpPr/>
      </dsp:nvSpPr>
      <dsp:spPr>
        <a:xfrm>
          <a:off x="250377" y="59"/>
          <a:ext cx="3120242" cy="187214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Resolution Time: Reduced from 29.71 to 11.13 hrs (62.5% reduction).</a:t>
          </a:r>
        </a:p>
      </dsp:txBody>
      <dsp:txXfrm>
        <a:off x="250377" y="59"/>
        <a:ext cx="3120242" cy="1872145"/>
      </dsp:txXfrm>
    </dsp:sp>
    <dsp:sp modelId="{0B33BA58-A2CF-45F5-B8B6-1643CCF9773A}">
      <dsp:nvSpPr>
        <dsp:cNvPr id="0" name=""/>
        <dsp:cNvSpPr/>
      </dsp:nvSpPr>
      <dsp:spPr>
        <a:xfrm>
          <a:off x="3682644" y="59"/>
          <a:ext cx="3120242" cy="1872145"/>
        </a:xfrm>
        <a:prstGeom prst="rect">
          <a:avLst/>
        </a:prstGeom>
        <a:solidFill>
          <a:schemeClr val="accent2">
            <a:hueOff val="8908"/>
            <a:satOff val="-25242"/>
            <a:lumOff val="1569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First Response: Dropped from 4.90 to 0.81 hrs.</a:t>
          </a:r>
        </a:p>
      </dsp:txBody>
      <dsp:txXfrm>
        <a:off x="3682644" y="59"/>
        <a:ext cx="3120242" cy="1872145"/>
      </dsp:txXfrm>
    </dsp:sp>
    <dsp:sp modelId="{DFB9272C-0279-4F7F-967D-76AF33DD60DB}">
      <dsp:nvSpPr>
        <dsp:cNvPr id="0" name=""/>
        <dsp:cNvSpPr/>
      </dsp:nvSpPr>
      <dsp:spPr>
        <a:xfrm>
          <a:off x="250377" y="2184229"/>
          <a:ext cx="3120242" cy="1872145"/>
        </a:xfrm>
        <a:prstGeom prst="rect">
          <a:avLst/>
        </a:prstGeom>
        <a:solidFill>
          <a:schemeClr val="accent2">
            <a:hueOff val="17815"/>
            <a:satOff val="-50484"/>
            <a:lumOff val="3137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SLA Compliance: Improved by 62.7 percentage points.</a:t>
          </a:r>
        </a:p>
      </dsp:txBody>
      <dsp:txXfrm>
        <a:off x="250377" y="2184229"/>
        <a:ext cx="3120242" cy="1872145"/>
      </dsp:txXfrm>
    </dsp:sp>
    <dsp:sp modelId="{E6924041-5E2A-4E2A-8BFF-45A52CAEA682}">
      <dsp:nvSpPr>
        <dsp:cNvPr id="0" name=""/>
        <dsp:cNvSpPr/>
      </dsp:nvSpPr>
      <dsp:spPr>
        <a:xfrm>
          <a:off x="3682644" y="2184229"/>
          <a:ext cx="3120242" cy="1872145"/>
        </a:xfrm>
        <a:prstGeom prst="rect">
          <a:avLst/>
        </a:prstGeom>
        <a:solidFill>
          <a:schemeClr val="accent2">
            <a:hueOff val="26723"/>
            <a:satOff val="-75726"/>
            <a:lumOff val="4706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Scalability: Process can handle 3x volume without increasing headcount.</a:t>
          </a:r>
        </a:p>
      </dsp:txBody>
      <dsp:txXfrm>
        <a:off x="3682644" y="2184229"/>
        <a:ext cx="3120242" cy="18721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F47E49-A6E1-4C58-A4C2-B1F9FF5E069A}">
      <dsp:nvSpPr>
        <dsp:cNvPr id="0" name=""/>
        <dsp:cNvSpPr/>
      </dsp:nvSpPr>
      <dsp:spPr>
        <a:xfrm>
          <a:off x="0" y="0"/>
          <a:ext cx="6537222" cy="74894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Cost Efficiency: 40% reduction in cost per ticket.</a:t>
          </a:r>
        </a:p>
      </dsp:txBody>
      <dsp:txXfrm>
        <a:off x="21936" y="21936"/>
        <a:ext cx="5665770" cy="705068"/>
      </dsp:txXfrm>
    </dsp:sp>
    <dsp:sp modelId="{49FFF8D1-B4CB-43CB-A00C-EA06C4DC9645}">
      <dsp:nvSpPr>
        <dsp:cNvPr id="0" name=""/>
        <dsp:cNvSpPr/>
      </dsp:nvSpPr>
      <dsp:spPr>
        <a:xfrm>
          <a:off x="547492" y="885112"/>
          <a:ext cx="6537222" cy="74894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Enhanced CX: Faster responses leading to improved NPS/CSAT.</a:t>
          </a:r>
        </a:p>
      </dsp:txBody>
      <dsp:txXfrm>
        <a:off x="569428" y="907048"/>
        <a:ext cx="5459046" cy="705068"/>
      </dsp:txXfrm>
    </dsp:sp>
    <dsp:sp modelId="{27488CBE-34DF-4AA1-877F-E239C91C19CD}">
      <dsp:nvSpPr>
        <dsp:cNvPr id="0" name=""/>
        <dsp:cNvSpPr/>
      </dsp:nvSpPr>
      <dsp:spPr>
        <a:xfrm>
          <a:off x="1086813" y="1770224"/>
          <a:ext cx="6537222" cy="74894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Operational Excellence: Predictable and transparent workflows.</a:t>
          </a:r>
        </a:p>
      </dsp:txBody>
      <dsp:txXfrm>
        <a:off x="1108749" y="1792160"/>
        <a:ext cx="5467217" cy="705068"/>
      </dsp:txXfrm>
    </dsp:sp>
    <dsp:sp modelId="{C0156017-ADBD-45B5-BC2A-92370ED72259}">
      <dsp:nvSpPr>
        <dsp:cNvPr id="0" name=""/>
        <dsp:cNvSpPr/>
      </dsp:nvSpPr>
      <dsp:spPr>
        <a:xfrm>
          <a:off x="1634305" y="2655336"/>
          <a:ext cx="6537222" cy="74894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Employee Satisfaction: Reduced manual burnout for support agents.</a:t>
          </a:r>
        </a:p>
      </dsp:txBody>
      <dsp:txXfrm>
        <a:off x="1656241" y="2677272"/>
        <a:ext cx="5459046" cy="705068"/>
      </dsp:txXfrm>
    </dsp:sp>
    <dsp:sp modelId="{1957BD0A-F4C1-4802-9D2E-4242B0FF0737}">
      <dsp:nvSpPr>
        <dsp:cNvPr id="0" name=""/>
        <dsp:cNvSpPr/>
      </dsp:nvSpPr>
      <dsp:spPr>
        <a:xfrm>
          <a:off x="6050410" y="573620"/>
          <a:ext cx="486811" cy="48681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159942" y="573620"/>
        <a:ext cx="267747" cy="366325"/>
      </dsp:txXfrm>
    </dsp:sp>
    <dsp:sp modelId="{E67A8B98-E627-41CA-A628-03A00C8B63F2}">
      <dsp:nvSpPr>
        <dsp:cNvPr id="0" name=""/>
        <dsp:cNvSpPr/>
      </dsp:nvSpPr>
      <dsp:spPr>
        <a:xfrm>
          <a:off x="6597903" y="1458732"/>
          <a:ext cx="486811" cy="486811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707435" y="1458732"/>
        <a:ext cx="267747" cy="366325"/>
      </dsp:txXfrm>
    </dsp:sp>
    <dsp:sp modelId="{6CDE2A1A-7583-475D-ADE7-E7DBC709C02F}">
      <dsp:nvSpPr>
        <dsp:cNvPr id="0" name=""/>
        <dsp:cNvSpPr/>
      </dsp:nvSpPr>
      <dsp:spPr>
        <a:xfrm>
          <a:off x="7137224" y="2343844"/>
          <a:ext cx="486811" cy="486811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246756" y="2343844"/>
        <a:ext cx="267747" cy="3663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614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224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307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51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346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13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15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904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358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777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3168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48177" y="3771174"/>
            <a:ext cx="5540814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115889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3124201"/>
            <a:ext cx="6620968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8769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7079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2722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29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883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4000"/>
                </a:schemeClr>
              </a:gs>
              <a:gs pos="73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0000"/>
                </a:schemeClr>
              </a:gs>
              <a:gs pos="66000">
                <a:schemeClr val="accent1">
                  <a:lumMod val="60000"/>
                  <a:lumOff val="40000"/>
                  <a:alpha val="0"/>
                </a:schemeClr>
              </a:gs>
              <a:gs pos="31000">
                <a:schemeClr val="accent1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1000"/>
                </a:schemeClr>
              </a:gs>
              <a:gs pos="75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8000"/>
                </a:schemeClr>
              </a:gs>
              <a:gs pos="72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0556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4322390-8B58-46BE-88EB-D9FD30C0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ople working on ideas">
            <a:extLst>
              <a:ext uri="{FF2B5EF4-FFF2-40B4-BE49-F238E27FC236}">
                <a16:creationId xmlns:a16="http://schemas.microsoft.com/office/drawing/2014/main" id="{F0CCEFF9-1B13-2EA5-1801-84FBF12430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9091" r="20606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447800"/>
            <a:ext cx="6619243" cy="33295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N" sz="6100">
                <a:solidFill>
                  <a:schemeClr val="tx1"/>
                </a:solidFill>
              </a:rPr>
              <a:t>Customer Support Process Improvement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4777380"/>
            <a:ext cx="6619243" cy="861420"/>
          </a:xfrm>
        </p:spPr>
        <p:txBody>
          <a:bodyPr>
            <a:normAutofit/>
          </a:bodyPr>
          <a:lstStyle/>
          <a:p>
            <a:r>
              <a:rPr lang="en-US" sz="1900">
                <a:solidFill>
                  <a:schemeClr val="tx1"/>
                </a:solidFill>
              </a:rPr>
              <a:t>Business Process Analysis &amp; Optimization Project</a:t>
            </a:r>
          </a:p>
          <a:p>
            <a:r>
              <a:rPr lang="en-US" sz="1900">
                <a:solidFill>
                  <a:schemeClr val="tx1"/>
                </a:solidFill>
              </a:rPr>
              <a:t>Business Analyst Portfolio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85E190-58DD-42DD-A4A8-401E15C92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42000"/>
                <a:hueMod val="42000"/>
                <a:satMod val="124000"/>
                <a:lumMod val="62000"/>
              </a:schemeClr>
              <a:schemeClr val="bg2">
                <a:tint val="96000"/>
                <a:satMod val="13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8001" y="629266"/>
            <a:ext cx="2497746" cy="1641986"/>
          </a:xfrm>
        </p:spPr>
        <p:txBody>
          <a:bodyPr>
            <a:normAutofit/>
          </a:bodyPr>
          <a:lstStyle/>
          <a:p>
            <a:r>
              <a:rPr lang="en-IN" sz="390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8001" y="2438400"/>
            <a:ext cx="2497746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sz="1600"/>
          </a:p>
          <a:p>
            <a:pPr>
              <a:lnSpc>
                <a:spcPct val="90000"/>
              </a:lnSpc>
            </a:pPr>
            <a:r>
              <a:rPr lang="en-US" sz="1600"/>
              <a:t>Total Records: 150 tickets analyzed.</a:t>
            </a:r>
          </a:p>
          <a:p>
            <a:pPr>
              <a:lnSpc>
                <a:spcPct val="90000"/>
              </a:lnSpc>
            </a:pPr>
            <a:r>
              <a:rPr lang="en-US" sz="1600"/>
              <a:t>Data Segments: 75 AS-IS (Manual) vs 75 TO-BE (Automated).</a:t>
            </a:r>
          </a:p>
          <a:p>
            <a:pPr>
              <a:lnSpc>
                <a:spcPct val="90000"/>
              </a:lnSpc>
            </a:pPr>
            <a:r>
              <a:rPr lang="en-US" sz="1600"/>
              <a:t>Key Attributes: Priority, Issue Type, Channel, FRT, Resolution Time.</a:t>
            </a:r>
          </a:p>
          <a:p>
            <a:pPr>
              <a:lnSpc>
                <a:spcPct val="90000"/>
              </a:lnSpc>
            </a:pPr>
            <a:r>
              <a:rPr lang="en-US" sz="1600"/>
              <a:t>Scenario: Global Customer Support Operations.</a:t>
            </a:r>
          </a:p>
        </p:txBody>
      </p:sp>
      <p:pic>
        <p:nvPicPr>
          <p:cNvPr id="5" name="Picture 4" descr="Analog board showing flight information">
            <a:extLst>
              <a:ext uri="{FF2B5EF4-FFF2-40B4-BE49-F238E27FC236}">
                <a16:creationId xmlns:a16="http://schemas.microsoft.com/office/drawing/2014/main" id="{4EE03165-1CD8-E52F-730F-1F48FD7D2D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908" r="24903" b="-1"/>
          <a:stretch>
            <a:fillRect/>
          </a:stretch>
        </p:blipFill>
        <p:spPr>
          <a:xfrm>
            <a:off x="3476010" y="10"/>
            <a:ext cx="5670097" cy="6857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42000"/>
                <a:hueMod val="42000"/>
                <a:satMod val="124000"/>
                <a:lumMod val="62000"/>
              </a:schemeClr>
              <a:schemeClr val="bg2">
                <a:tint val="96000"/>
                <a:satMod val="13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8001" y="629266"/>
            <a:ext cx="3601523" cy="1641986"/>
          </a:xfrm>
        </p:spPr>
        <p:txBody>
          <a:bodyPr>
            <a:normAutofit/>
          </a:bodyPr>
          <a:lstStyle/>
          <a:p>
            <a:r>
              <a:rPr lang="en-IN" sz="3900"/>
              <a:t>AS-IS Process &amp; Bottlenecks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8001" y="2438400"/>
            <a:ext cx="3601523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sz="1400"/>
          </a:p>
          <a:p>
            <a:pPr>
              <a:lnSpc>
                <a:spcPct val="90000"/>
              </a:lnSpc>
            </a:pPr>
            <a:r>
              <a:rPr lang="en-US" sz="1400"/>
              <a:t>Manual Triage: Tickets manually assigned by supervisors.</a:t>
            </a:r>
          </a:p>
          <a:p>
            <a:pPr>
              <a:lnSpc>
                <a:spcPct val="90000"/>
              </a:lnSpc>
            </a:pPr>
            <a:r>
              <a:rPr lang="en-US" sz="1400"/>
              <a:t>High Latency: Average First Response Time exceeding 5 hours.</a:t>
            </a:r>
          </a:p>
          <a:p>
            <a:pPr>
              <a:lnSpc>
                <a:spcPct val="90000"/>
              </a:lnSpc>
            </a:pPr>
            <a:r>
              <a:rPr lang="en-US" sz="1400"/>
              <a:t>SLA Breaches: ~60% of tickets failing the 24-hour resolution target.</a:t>
            </a:r>
          </a:p>
          <a:p>
            <a:pPr>
              <a:lnSpc>
                <a:spcPct val="90000"/>
              </a:lnSpc>
            </a:pPr>
            <a:r>
              <a:rPr lang="en-US" sz="1400"/>
              <a:t>Inconsistent Categorization: Human error in tagging issue types.</a:t>
            </a:r>
          </a:p>
          <a:p>
            <a:pPr>
              <a:lnSpc>
                <a:spcPct val="90000"/>
              </a:lnSpc>
            </a:pPr>
            <a:r>
              <a:rPr lang="en-US" sz="1400"/>
              <a:t>Siloed Teams: Poor communication between L1 and Technical teams.</a:t>
            </a:r>
          </a:p>
        </p:txBody>
      </p:sp>
      <p:pic>
        <p:nvPicPr>
          <p:cNvPr id="5" name="Picture 4" descr="Immigration stamps">
            <a:extLst>
              <a:ext uri="{FF2B5EF4-FFF2-40B4-BE49-F238E27FC236}">
                <a16:creationId xmlns:a16="http://schemas.microsoft.com/office/drawing/2014/main" id="{B3A4DC70-945C-D413-9785-B44E34892C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57" r="4" b="4"/>
          <a:stretch>
            <a:fillRect/>
          </a:stretch>
        </p:blipFill>
        <p:spPr>
          <a:xfrm>
            <a:off x="4575298" y="10"/>
            <a:ext cx="4570809" cy="6857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42000"/>
                <a:hueMod val="42000"/>
                <a:satMod val="124000"/>
                <a:lumMod val="62000"/>
              </a:schemeClr>
              <a:schemeClr val="bg2">
                <a:tint val="96000"/>
                <a:satMod val="13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583" y="452718"/>
            <a:ext cx="7053542" cy="1400530"/>
          </a:xfrm>
        </p:spPr>
        <p:txBody>
          <a:bodyPr>
            <a:normAutofit/>
          </a:bodyPr>
          <a:lstStyle/>
          <a:p>
            <a:r>
              <a:rPr lang="en-IN"/>
              <a:t>Quantified Pain Points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328789-0551-9F25-AA42-440F233CA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4898335"/>
              </p:ext>
            </p:extLst>
          </p:nvPr>
        </p:nvGraphicFramePr>
        <p:xfrm>
          <a:off x="484583" y="2140085"/>
          <a:ext cx="7053264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42000"/>
                <a:hueMod val="42000"/>
                <a:satMod val="124000"/>
                <a:lumMod val="62000"/>
              </a:schemeClr>
              <a:schemeClr val="bg2">
                <a:tint val="96000"/>
                <a:satMod val="13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8001" y="629266"/>
            <a:ext cx="3601523" cy="164198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IN" sz="3600"/>
              <a:t>TO-BE Improved Process</a:t>
            </a:r>
          </a:p>
        </p:txBody>
      </p:sp>
      <p:pic>
        <p:nvPicPr>
          <p:cNvPr id="5" name="Picture 4" descr="Digital financial graph">
            <a:extLst>
              <a:ext uri="{FF2B5EF4-FFF2-40B4-BE49-F238E27FC236}">
                <a16:creationId xmlns:a16="http://schemas.microsoft.com/office/drawing/2014/main" id="{6A2A29A1-5E82-CE2E-EED0-2045BFED2B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7" r="26502"/>
          <a:stretch>
            <a:fillRect/>
          </a:stretch>
        </p:blipFill>
        <p:spPr>
          <a:xfrm>
            <a:off x="4575298" y="10"/>
            <a:ext cx="457080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BE418AF-82BD-4321-9C94-DE266A5D6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8001" y="2438400"/>
            <a:ext cx="3601523" cy="380999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sz="1400"/>
          </a:p>
          <a:p>
            <a:pPr>
              <a:lnSpc>
                <a:spcPct val="90000"/>
              </a:lnSpc>
            </a:pPr>
            <a:r>
              <a:rPr lang="en-US" sz="1400"/>
              <a:t>AI-Driven Triage: Automated ticket categorization and routing.</a:t>
            </a:r>
          </a:p>
          <a:p>
            <a:pPr>
              <a:lnSpc>
                <a:spcPct val="90000"/>
              </a:lnSpc>
            </a:pPr>
            <a:r>
              <a:rPr lang="en-US" sz="1400"/>
              <a:t>Knowledge Base Integration: Auto-suggesting solutions to agents.</a:t>
            </a:r>
          </a:p>
          <a:p>
            <a:pPr>
              <a:lnSpc>
                <a:spcPct val="90000"/>
              </a:lnSpc>
            </a:pPr>
            <a:r>
              <a:rPr lang="en-US" sz="1400"/>
              <a:t>Centralized Dashboard: Real-time tracking of SLA metrics.</a:t>
            </a:r>
          </a:p>
          <a:p>
            <a:pPr>
              <a:lnSpc>
                <a:spcPct val="90000"/>
              </a:lnSpc>
            </a:pPr>
            <a:r>
              <a:rPr lang="en-US" sz="1400"/>
              <a:t>Automated Workflows: Trigger-based escalations for High Priority tickets.</a:t>
            </a:r>
          </a:p>
          <a:p>
            <a:pPr>
              <a:lnSpc>
                <a:spcPct val="90000"/>
              </a:lnSpc>
            </a:pPr>
            <a:r>
              <a:rPr lang="en-US" sz="1400"/>
              <a:t>Omnichannel Integration: Unified view of Customer across Email/Chat/Call.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42000"/>
                <a:hueMod val="42000"/>
                <a:satMod val="124000"/>
                <a:lumMod val="62000"/>
              </a:schemeClr>
              <a:schemeClr val="bg2">
                <a:tint val="96000"/>
                <a:satMod val="13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583" y="452718"/>
            <a:ext cx="7053542" cy="1400530"/>
          </a:xfrm>
        </p:spPr>
        <p:txBody>
          <a:bodyPr>
            <a:normAutofit/>
          </a:bodyPr>
          <a:lstStyle/>
          <a:p>
            <a:r>
              <a:rPr lang="en-IN"/>
              <a:t>KPI Comparison &amp; Results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317CB4E-2434-CB15-073F-AE18BC2C3E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127077"/>
              </p:ext>
            </p:extLst>
          </p:nvPr>
        </p:nvGraphicFramePr>
        <p:xfrm>
          <a:off x="484583" y="2140085"/>
          <a:ext cx="7053264" cy="4056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29121B6-CC83-4529-87ED-89AE1AD34E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7">
            <a:extLst>
              <a:ext uri="{FF2B5EF4-FFF2-40B4-BE49-F238E27FC236}">
                <a16:creationId xmlns:a16="http://schemas.microsoft.com/office/drawing/2014/main" id="{F48C3783-EF6E-445F-A78D-9DE1771B0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EBEBEB"/>
                </a:solidFill>
              </a:rPr>
              <a:t>Business Impact &amp; Benefits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B7DCDB-78ED-480D-8CA0-9930E8F29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1F48B6A-C55F-4FD5-9034-DC9867D02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graphicFrame>
        <p:nvGraphicFramePr>
          <p:cNvPr id="14" name="Content Placeholder 2">
            <a:extLst>
              <a:ext uri="{FF2B5EF4-FFF2-40B4-BE49-F238E27FC236}">
                <a16:creationId xmlns:a16="http://schemas.microsoft.com/office/drawing/2014/main" id="{1092B7F5-3D12-E892-2411-CC46FEDF6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3900811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42000"/>
                <a:hueMod val="42000"/>
                <a:satMod val="124000"/>
                <a:lumMod val="62000"/>
              </a:schemeClr>
              <a:schemeClr val="bg2">
                <a:tint val="96000"/>
                <a:satMod val="13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ED40652-2041-40A8-BD19-2174322668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9E3962-D4A6-4AE1-88E9-74BCE5EB8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C6C9A81-EBD8-4A7D-BE1B-7520E2A46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C71F41-5AA1-428C-A1E3-0BD5A7691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13"/>
          <a:stretch/>
        </p:blipFill>
        <p:spPr>
          <a:xfrm>
            <a:off x="6000147" y="0"/>
            <a:ext cx="1202541" cy="1143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AA17048-7FB7-46CB-B99B-8D9D66ECA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99"/>
          <a:stretch/>
        </p:blipFill>
        <p:spPr>
          <a:xfrm>
            <a:off x="6456759" y="6092866"/>
            <a:ext cx="745300" cy="76513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1CFBC036-F1E2-42B1-B205-11560583B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0D8713-B940-9AF0-470C-90D03C03883C}"/>
              </a:ext>
            </a:extLst>
          </p:cNvPr>
          <p:cNvSpPr txBox="1"/>
          <p:nvPr/>
        </p:nvSpPr>
        <p:spPr>
          <a:xfrm>
            <a:off x="6143943" y="1325880"/>
            <a:ext cx="2514282" cy="30665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47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00DA9A-C650-4C85-93DE-F8BFB9788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36784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D8A2D167-807B-4285-BF5A-BE1660FA2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597760" y="-1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83B96611-4BCB-4210-9437-6F78615AB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1924197" y="2924731"/>
            <a:ext cx="6858000" cy="1008536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pic>
        <p:nvPicPr>
          <p:cNvPr id="6" name="Graphic 5" descr="Handshake">
            <a:extLst>
              <a:ext uri="{FF2B5EF4-FFF2-40B4-BE49-F238E27FC236}">
                <a16:creationId xmlns:a16="http://schemas.microsoft.com/office/drawing/2014/main" id="{F454DC18-2E3F-3A27-7034-51F6B6251E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890" y="1077269"/>
            <a:ext cx="4702997" cy="47029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818659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tint val="100000"/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57</TotalTime>
  <Words>312</Words>
  <Application>Microsoft Office PowerPoint</Application>
  <PresentationFormat>On-screen Show (4:3)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Century Gothic</vt:lpstr>
      <vt:lpstr>Wingdings 3</vt:lpstr>
      <vt:lpstr>Ion</vt:lpstr>
      <vt:lpstr>Customer Support Process Improvement</vt:lpstr>
      <vt:lpstr>Dataset Overview</vt:lpstr>
      <vt:lpstr>AS-IS Process &amp; Bottlenecks</vt:lpstr>
      <vt:lpstr>Quantified Pain Points</vt:lpstr>
      <vt:lpstr>TO-BE Improved Process</vt:lpstr>
      <vt:lpstr>KPI Comparison &amp; Results</vt:lpstr>
      <vt:lpstr>Business Impact &amp; Benefits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2026-02-10T06:56:22Z</dcterms:modified>
  <cp:category/>
</cp:coreProperties>
</file>